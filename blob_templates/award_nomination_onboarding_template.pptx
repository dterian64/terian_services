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
<Relationships xmlns="http://schemas.openxmlformats.org/package/2006/relationships">
  <Relationship Id="rId3" Type="http://schemas.openxmlformats.org/officeDocument/2006/relationships/extended-properties" Target="docProps/app.xml"/>
  <Relationship Id="rId2" Type="http://schemas.openxmlformats.org/package/2006/relationships/metadata/core-properties" Target="docProps/core.xml"/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81" r:id="rId32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0" r:id="rId31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26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
  <Relationship Id="rId8" Type="http://schemas.openxmlformats.org/officeDocument/2006/relationships/slide" Target="slides/slide7.xml"/>
  <Relationship Id="rId13" Type="http://schemas.openxmlformats.org/officeDocument/2006/relationships/slide" Target="slides/slide12.xml"/>
  <Relationship Id="rId18" Type="http://schemas.openxmlformats.org/officeDocument/2006/relationships/slide" Target="slides/slide17.xml"/>
  <Relationship Id="rId26" Type="http://schemas.openxmlformats.org/officeDocument/2006/relationships/notesMaster" Target="notesMasters/notesMaster1.xml"/>
  <Relationship Id="rId3" Type="http://schemas.openxmlformats.org/officeDocument/2006/relationships/slide" Target="slides/slide2.xml"/>
  <Relationship Id="rId21" Type="http://schemas.openxmlformats.org/officeDocument/2006/relationships/slide" Target="slides/slide20.xml"/>
  <Relationship Id="rId7" Type="http://schemas.openxmlformats.org/officeDocument/2006/relationships/slide" Target="slides/slide6.xml"/>
  <Relationship Id="rId12" Type="http://schemas.openxmlformats.org/officeDocument/2006/relationships/slide" Target="slides/slide11.xml"/>
  <Relationship Id="rId17" Type="http://schemas.openxmlformats.org/officeDocument/2006/relationships/slide" Target="slides/slide16.xml"/>
  <Relationship Id="rId25" Type="http://schemas.openxmlformats.org/officeDocument/2006/relationships/slide" Target="slides/slide24.xml"/>
  <Relationship Id="rId2" Type="http://schemas.openxmlformats.org/officeDocument/2006/relationships/slide" Target="slides/slide1.xml"/>
  <Relationship Id="rId16" Type="http://schemas.openxmlformats.org/officeDocument/2006/relationships/slide" Target="slides/slide15.xml"/>
  <Relationship Id="rId20" Type="http://schemas.openxmlformats.org/officeDocument/2006/relationships/slide" Target="slides/slide19.xml"/>
  <Relationship Id="rId29" Type="http://schemas.openxmlformats.org/officeDocument/2006/relationships/theme" Target="theme/theme1.xml"/>
  <Relationship Id="rId1" Type="http://schemas.openxmlformats.org/officeDocument/2006/relationships/slideMaster" Target="slideMasters/slideMaster1.xml"/>
  <Relationship Id="rId6" Type="http://schemas.openxmlformats.org/officeDocument/2006/relationships/slide" Target="slides/slide5.xml"/>
  <Relationship Id="rId11" Type="http://schemas.openxmlformats.org/officeDocument/2006/relationships/slide" Target="slides/slide10.xml"/>
  <Relationship Id="rId24" Type="http://schemas.openxmlformats.org/officeDocument/2006/relationships/slide" Target="slides/slide23.xml"/>
  <Relationship Id="rId5" Type="http://schemas.openxmlformats.org/officeDocument/2006/relationships/slide" Target="slides/slide4.xml"/>
  <Relationship Id="rId15" Type="http://schemas.openxmlformats.org/officeDocument/2006/relationships/slide" Target="slides/slide14.xml"/>
  <Relationship Id="rId23" Type="http://schemas.openxmlformats.org/officeDocument/2006/relationships/slide" Target="slides/slide22.xml"/>
  <Relationship Id="rId28" Type="http://schemas.openxmlformats.org/officeDocument/2006/relationships/viewProps" Target="viewProps.xml"/>
  <Relationship Id="rId10" Type="http://schemas.openxmlformats.org/officeDocument/2006/relationships/slide" Target="slides/slide9.xml"/>
  <Relationship Id="rId19" Type="http://schemas.openxmlformats.org/officeDocument/2006/relationships/slide" Target="slides/slide18.xml"/>
  <Relationship Id="rId4" Type="http://schemas.openxmlformats.org/officeDocument/2006/relationships/slide" Target="slides/slide3.xml"/>
  <Relationship Id="rId9" Type="http://schemas.openxmlformats.org/officeDocument/2006/relationships/slide" Target="slides/slide8.xml"/>
  <Relationship Id="rId14" Type="http://schemas.openxmlformats.org/officeDocument/2006/relationships/slide" Target="slides/slide13.xml"/>
  <Relationship Id="rId22" Type="http://schemas.openxmlformats.org/officeDocument/2006/relationships/slide" Target="slides/slide21.xml"/>
  <Relationship Id="rId27" Type="http://schemas.openxmlformats.org/officeDocument/2006/relationships/presProps" Target="presProps.xml"/>
  <Relationship Id="rId30" Type="http://schemas.openxmlformats.org/officeDocument/2006/relationships/tableStyles" Target="tableStyles.xml"/>
  <Relationship Id="rId31" Type="http://schemas.openxmlformats.org/officeDocument/2006/relationships/slide" Target="slides/slide25.xml"/>
  <Relationship Id="rId32" Type="http://schemas.openxmlformats.org/officeDocument/2006/relationships/slide" Target="slides/slide26.xml"/>
</Relationships>

</file>

<file path=ppt/notesMasters/_rels/notesMaster1.xml.rels><?xml version="1.0" encoding="utf-8"?>
<Relationships xmlns="http://schemas.openxmlformats.org/package/2006/relationships">
  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398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
  <Relationship Id="rId2" Type="http://schemas.openxmlformats.org/officeDocument/2006/relationships/slide" Target="../slides/slide1.xml"/>
  <Relationship Id="rId1" Type="http://schemas.openxmlformats.org/officeDocument/2006/relationships/notesMaster" Target="../notesMasters/notesMaster1.xml"/>
</Relationships>

</file>

<file path=ppt/notesSlides/_rels/notesSlide2.xml.rels><?xml version="1.0" encoding="utf-8"?>
<Relationships xmlns="http://schemas.openxmlformats.org/package/2006/relationships">
  <Relationship Id="rId2" Type="http://schemas.openxmlformats.org/officeDocument/2006/relationships/slide" Target="../slides/slide2.xml"/>
  <Relationship Id="rId1" Type="http://schemas.openxmlformats.org/officeDocument/2006/relationships/notesMaster" Target="../notesMasters/notesMaster1.xml"/>
</Relationships>

</file>

<file path=ppt/notesSlides/_rels/notesSlide3.xml.rels><?xml version="1.0" encoding="utf-8"?>
<Relationships xmlns="http://schemas.openxmlformats.org/package/2006/relationships">
  <Relationship Id="rId2" Type="http://schemas.openxmlformats.org/officeDocument/2006/relationships/slide" Target="../slides/slide3.xml"/>
  <Relationship Id="rId1" Type="http://schemas.openxmlformats.org/officeDocument/2006/relationships/notesMaster" Target="../notesMasters/notesMaster1.xml"/>
</Relationships>

</file>

<file path=ppt/notesSlides/_rels/notesSlide4.xml.rels><?xml version="1.0" encoding="utf-8"?>
<Relationships xmlns="http://schemas.openxmlformats.org/package/2006/relationships">
  <Relationship Id="rId2" Type="http://schemas.openxmlformats.org/officeDocument/2006/relationships/slide" Target="../slides/slide4.xml"/>
  <Relationship Id="rId1" Type="http://schemas.openxmlformats.org/officeDocument/2006/relationships/notesMaster" Target="../notesMasters/notesMaster1.xml"/>
</Relationships>

</file>

<file path=ppt/notesSlides/_rels/notesSlide5.xml.rels><?xml version="1.0" encoding="utf-8"?>
<Relationships xmlns="http://schemas.openxmlformats.org/package/2006/relationships">
  <Relationship Id="rId2" Type="http://schemas.openxmlformats.org/officeDocument/2006/relationships/slide" Target="../slides/slide5.xml"/>
  <Relationship Id="rId1" Type="http://schemas.openxmlformats.org/officeDocument/2006/relationships/notesMaster" Target="../notesMasters/notesMaster1.xml"/>
</Relationships>

</file>

<file path=ppt/notesSlides/_rels/notesSlide6.xml.rels><?xml version="1.0" encoding="utf-8"?>
<Relationships xmlns="http://schemas.openxmlformats.org/package/2006/relationships">
  <Relationship Id="rId2" Type="http://schemas.openxmlformats.org/officeDocument/2006/relationships/slide" Target="../slides/slide6.xml"/>
  <Relationship Id="rId1" Type="http://schemas.openxmlformats.org/officeDocument/2006/relationships/notesMaster" Target="../notesMasters/notesMaster1.xml"/>
</Relationships>

</file>

<file path=ppt/notesSlides/_rels/notesSlide7.xml.rels><?xml version="1.0" encoding="utf-8"?>
<Relationships xmlns="http://schemas.openxmlformats.org/package/2006/relationships">
  <Relationship Id="rId2" Type="http://schemas.openxmlformats.org/officeDocument/2006/relationships/slide" Target="../slides/slide7.xml"/>
  <Relationship Id="rId1" Type="http://schemas.openxmlformats.org/officeDocument/2006/relationships/notesMaster" Target="../notesMasters/notesMaster1.xml"/>
</Relationships>

</file>

<file path=ppt/notesSlides/_rels/notesSlide8.xml.rels><?xml version="1.0" encoding="utf-8"?>
<Relationships xmlns="http://schemas.openxmlformats.org/package/2006/relationships">
  <Relationship Id="rId2" Type="http://schemas.openxmlformats.org/officeDocument/2006/relationships/slide" Target="../slides/slide8.xml"/>
  <Relationship Id="rId1" Type="http://schemas.openxmlformats.org/officeDocument/2006/relationships/notesMaster" Target="../notesMasters/notesMaster1.xml"/>
</Relationships>

</file>

<file path=ppt/notesSlides/_rels/notesSlide9.xml.rels><?xml version="1.0" encoding="utf-8"?>
<Relationships xmlns="http://schemas.openxmlformats.org/package/2006/relationships">
  <Relationship Id="rId2" Type="http://schemas.openxmlformats.org/officeDocument/2006/relationships/slide" Target="../slides/slide9.xml"/>
  <Relationship Id="rId1" Type="http://schemas.openxmlformats.org/officeDocument/2006/relationships/notesMaster" Target="../notesMasters/notesMaster1.xml"/>
</Relationships>

</file>

<file path=ppt/notesSlides/_rels/notesSlide10.xml.rels><?xml version="1.0" encoding="utf-8"?>
<Relationships xmlns="http://schemas.openxmlformats.org/package/2006/relationships">
  <Relationship Id="rId2" Type="http://schemas.openxmlformats.org/officeDocument/2006/relationships/slide" Target="../slides/slide10.xml"/>
  <Relationship Id="rId1" Type="http://schemas.openxmlformats.org/officeDocument/2006/relationships/notesMaster" Target="../notesMasters/notesMaster1.xml"/>
</Relationships>

</file>

<file path=ppt/notesSlides/_rels/notesSlide11.xml.rels><?xml version="1.0" encoding="utf-8"?>
<Relationships xmlns="http://schemas.openxmlformats.org/package/2006/relationships">
  <Relationship Id="rId2" Type="http://schemas.openxmlformats.org/officeDocument/2006/relationships/slide" Target="../slides/slide11.xml"/>
  <Relationship Id="rId1" Type="http://schemas.openxmlformats.org/officeDocument/2006/relationships/notesMaster" Target="../notesMasters/notesMaster1.xml"/>
</Relationships>

</file>

<file path=ppt/notesSlides/_rels/notesSlide12.xml.rels><?xml version="1.0" encoding="utf-8"?>
<Relationships xmlns="http://schemas.openxmlformats.org/package/2006/relationships">
  <Relationship Id="rId2" Type="http://schemas.openxmlformats.org/officeDocument/2006/relationships/slide" Target="../slides/slide12.xml"/>
  <Relationship Id="rId1" Type="http://schemas.openxmlformats.org/officeDocument/2006/relationships/notesMaster" Target="../notesMasters/notesMaster1.xml"/>
</Relationships>

</file>

<file path=ppt/notesSlides/_rels/notesSlide13.xml.rels><?xml version="1.0" encoding="utf-8"?>
<Relationships xmlns="http://schemas.openxmlformats.org/package/2006/relationships">
  <Relationship Id="rId2" Type="http://schemas.openxmlformats.org/officeDocument/2006/relationships/slide" Target="../slides/slide13.xml"/>
  <Relationship Id="rId1" Type="http://schemas.openxmlformats.org/officeDocument/2006/relationships/notesMaster" Target="../notesMasters/notesMaster1.xml"/>
</Relationships>

</file>

<file path=ppt/notesSlides/_rels/notesSlide14.xml.rels><?xml version="1.0" encoding="utf-8"?>
<Relationships xmlns="http://schemas.openxmlformats.org/package/2006/relationships">
  <Relationship Id="rId2" Type="http://schemas.openxmlformats.org/officeDocument/2006/relationships/slide" Target="../slides/slide14.xml"/>
  <Relationship Id="rId1" Type="http://schemas.openxmlformats.org/officeDocument/2006/relationships/notesMaster" Target="../notesMasters/notesMaster1.xml"/>
</Relationships>

</file>

<file path=ppt/notesSlides/_rels/notesSlide15.xml.rels><?xml version="1.0" encoding="utf-8"?>
<Relationships xmlns="http://schemas.openxmlformats.org/package/2006/relationships">
  <Relationship Id="rId2" Type="http://schemas.openxmlformats.org/officeDocument/2006/relationships/slide" Target="../slides/slide15.xml"/>
  <Relationship Id="rId1" Type="http://schemas.openxmlformats.org/officeDocument/2006/relationships/notesMaster" Target="../notesMasters/notesMaster1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2" Type="http://schemas.openxmlformats.org/officeDocument/2006/relationships/theme" Target="../theme/theme1.xml"/>
  <Relationship Id="rId1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notesSlide" Target="../notesSlides/notesSlide1.xml"/>
  <Relationship Id="rId1" Type="http://schemas.openxmlformats.org/officeDocument/2006/relationships/slideLayout" Target="../slideLayouts/slideLayout1.xml"/>
</Relationships>

</file>

<file path=ppt/slides/_rels/slide2.xml.rels><?xml version="1.0" encoding="utf-8"?>
<Relationships xmlns="http://schemas.openxmlformats.org/package/2006/relationships">
  <Relationship Id="rId2" Type="http://schemas.openxmlformats.org/officeDocument/2006/relationships/notesSlide" Target="../notesSlides/notesSlide2.xml"/>
  <Relationship Id="rId1" Type="http://schemas.openxmlformats.org/officeDocument/2006/relationships/slideLayout" Target="../slideLayouts/slideLayout1.xml"/>
</Relationships>

</file>

<file path=ppt/slides/_rels/slide3.xml.rels><?xml version="1.0" encoding="utf-8"?>
<Relationships xmlns="http://schemas.openxmlformats.org/package/2006/relationships">
  <Relationship Id="rId2" Type="http://schemas.openxmlformats.org/officeDocument/2006/relationships/notesSlide" Target="../notesSlides/notesSlide3.xml"/>
  <Relationship Id="rId1" Type="http://schemas.openxmlformats.org/officeDocument/2006/relationships/slideLayout" Target="../slideLayouts/slideLayout1.xml"/>
</Relationships>

</file>

<file path=ppt/slides/_rels/slide4.xml.rels><?xml version="1.0" encoding="utf-8"?>
<Relationships xmlns="http://schemas.openxmlformats.org/package/2006/relationships">
  <Relationship Id="rId2" Type="http://schemas.openxmlformats.org/officeDocument/2006/relationships/notesSlide" Target="../notesSlides/notesSlide4.xml"/>
  <Relationship Id="rId1" Type="http://schemas.openxmlformats.org/officeDocument/2006/relationships/slideLayout" Target="../slideLayouts/slideLayout1.xml"/>
</Relationships>

</file>

<file path=ppt/slides/_rels/slide5.xml.rels><?xml version="1.0" encoding="utf-8"?>
<Relationships xmlns="http://schemas.openxmlformats.org/package/2006/relationships">
  <Relationship Id="rId2" Type="http://schemas.openxmlformats.org/officeDocument/2006/relationships/notesSlide" Target="../notesSlides/notesSlide5.xml"/>
  <Relationship Id="rId1" Type="http://schemas.openxmlformats.org/officeDocument/2006/relationships/slideLayout" Target="../slideLayouts/slideLayout1.xml"/>
</Relationships>

</file>

<file path=ppt/slides/_rels/slide6.xml.rels><?xml version="1.0" encoding="utf-8"?>
<Relationships xmlns="http://schemas.openxmlformats.org/package/2006/relationships">
  <Relationship Id="rId2" Type="http://schemas.openxmlformats.org/officeDocument/2006/relationships/notesSlide" Target="../notesSlides/notesSlide6.xml"/>
  <Relationship Id="rId1" Type="http://schemas.openxmlformats.org/officeDocument/2006/relationships/slideLayout" Target="../slideLayouts/slideLayout1.xml"/>
</Relationships>

</file>

<file path=ppt/slides/_rels/slide7.xml.rels><?xml version="1.0" encoding="utf-8"?>
<Relationships xmlns="http://schemas.openxmlformats.org/package/2006/relationships">
  <Relationship Id="rId2" Type="http://schemas.openxmlformats.org/officeDocument/2006/relationships/notesSlide" Target="../notesSlides/notesSlide7.xml"/>
  <Relationship Id="rId1" Type="http://schemas.openxmlformats.org/officeDocument/2006/relationships/slideLayout" Target="../slideLayouts/slideLayout1.xml"/>
</Relationships>

</file>

<file path=ppt/slides/_rels/slide8.xml.rels><?xml version="1.0" encoding="utf-8"?>
<Relationships xmlns="http://schemas.openxmlformats.org/package/2006/relationships">
  <Relationship Id="rId2" Type="http://schemas.openxmlformats.org/officeDocument/2006/relationships/notesSlide" Target="../notesSlides/notesSlide8.xml"/>
  <Relationship Id="rId1" Type="http://schemas.openxmlformats.org/officeDocument/2006/relationships/slideLayout" Target="../slideLayouts/slideLayout1.xml"/>
</Relationships>

</file>

<file path=ppt/slides/_rels/slide9.xml.rels><?xml version="1.0" encoding="utf-8"?>
<Relationships xmlns="http://schemas.openxmlformats.org/package/2006/relationships">
  <Relationship Id="rId2" Type="http://schemas.openxmlformats.org/officeDocument/2006/relationships/notesSlide" Target="../notesSlides/notesSlide9.xml"/>
  <Relationship Id="rId1" Type="http://schemas.openxmlformats.org/officeDocument/2006/relationships/slideLayout" Target="../slideLayouts/slideLayout1.xml"/>
</Relationships>

</file>

<file path=ppt/slides/_rels/slide10.xml.rels><?xml version="1.0" encoding="utf-8"?>
<Relationships xmlns="http://schemas.openxmlformats.org/package/2006/relationships">
  <Relationship Id="rId2" Type="http://schemas.openxmlformats.org/officeDocument/2006/relationships/notesSlide" Target="../notesSlides/notesSlide10.xml"/>
  <Relationship Id="rId1" Type="http://schemas.openxmlformats.org/officeDocument/2006/relationships/slideLayout" Target="../slideLayouts/slideLayout1.xml"/>
</Relationships>

</file>

<file path=ppt/slides/_rels/slide11.xml.rels><?xml version="1.0" encoding="utf-8"?>
<Relationships xmlns="http://schemas.openxmlformats.org/package/2006/relationships">
  <Relationship Id="rId2" Type="http://schemas.openxmlformats.org/officeDocument/2006/relationships/notesSlide" Target="../notesSlides/notesSlide11.xml"/>
  <Relationship Id="rId1" Type="http://schemas.openxmlformats.org/officeDocument/2006/relationships/slideLayout" Target="../slideLayouts/slideLayout1.xml"/>
</Relationships>

</file>

<file path=ppt/slides/_rels/slide12.xml.rels><?xml version="1.0" encoding="utf-8"?>
<Relationships xmlns="http://schemas.openxmlformats.org/package/2006/relationships">
  <Relationship Id="rId2" Type="http://schemas.openxmlformats.org/officeDocument/2006/relationships/notesSlide" Target="../notesSlides/notesSlide12.xml"/>
  <Relationship Id="rId1" Type="http://schemas.openxmlformats.org/officeDocument/2006/relationships/slideLayout" Target="../slideLayouts/slideLayout1.xml"/>
</Relationships>

</file>

<file path=ppt/slides/_rels/slide13.xml.rels><?xml version="1.0" encoding="utf-8"?>
<Relationships xmlns="http://schemas.openxmlformats.org/package/2006/relationships">
  <Relationship Id="rId2" Type="http://schemas.openxmlformats.org/officeDocument/2006/relationships/notesSlide" Target="../notesSlides/notesSlide13.xml"/>
  <Relationship Id="rId1" Type="http://schemas.openxmlformats.org/officeDocument/2006/relationships/slideLayout" Target="../slideLayouts/slideLayout1.xml"/>
</Relationships>

</file>

<file path=ppt/slides/_rels/slide14.xml.rels><?xml version="1.0" encoding="utf-8"?>
<Relationships xmlns="http://schemas.openxmlformats.org/package/2006/relationships">
  <Relationship Id="rId2" Type="http://schemas.openxmlformats.org/officeDocument/2006/relationships/notesSlide" Target="../notesSlides/notesSlide14.xml"/>
  <Relationship Id="rId1" Type="http://schemas.openxmlformats.org/officeDocument/2006/relationships/slideLayout" Target="../slideLayouts/slideLayout1.xml"/>
</Relationships>

</file>

<file path=ppt/slides/_rels/slide15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notesSlide" Target="../notesSlides/notesSlide15.xml"/>
  <Relationship Id="rId1" Type="http://schemas.openxmlformats.org/officeDocument/2006/relationships/slideLayout" Target="../slideLayouts/slideLayout1.xml"/>
</Relationships>

</file>

<file path=ppt/slides/_rels/slide1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7.xml.rels><?xml version="1.0" encoding="utf-8"?>
<Relationships xmlns="http://schemas.openxmlformats.org/package/2006/relationships">
  <Relationship Id="rId2" Type="http://schemas.openxmlformats.org/officeDocument/2006/relationships/image" Target="../media/image2.jpg"/>
  <Relationship Id="rId1" Type="http://schemas.openxmlformats.org/officeDocument/2006/relationships/slideLayout" Target="../slideLayouts/slideLayout1.xml"/>
</Relationships>

</file>

<file path=ppt/slides/_rels/slide18.xml.rels><?xml version="1.0" encoding="utf-8"?>
<Relationships xmlns="http://schemas.openxmlformats.org/package/2006/relationships">
  <Relationship Id="rId2" Type="http://schemas.openxmlformats.org/officeDocument/2006/relationships/image" Target="../media/image3.jpg"/>
  <Relationship Id="rId1" Type="http://schemas.openxmlformats.org/officeDocument/2006/relationships/slideLayout" Target="../slideLayouts/slideLayout1.xml"/>
</Relationships>

</file>

<file path=ppt/slides/_rels/slide19.xml.rels><?xml version="1.0" encoding="utf-8"?>
<Relationships xmlns="http://schemas.openxmlformats.org/package/2006/relationships">
  <Relationship Id="rId2" Type="http://schemas.openxmlformats.org/officeDocument/2006/relationships/image" Target="../media/image4.jpg"/>
  <Relationship Id="rId1" Type="http://schemas.openxmlformats.org/officeDocument/2006/relationships/slideLayout" Target="../slideLayouts/slideLayout1.xml"/>
</Relationships>

</file>

<file path=ppt/slides/_rels/slide20.xml.rels><?xml version="1.0" encoding="utf-8"?>
<Relationships xmlns="http://schemas.openxmlformats.org/package/2006/relationships">
  <Relationship Id="rId2" Type="http://schemas.openxmlformats.org/officeDocument/2006/relationships/image" Target="../media/image5.jpg"/>
  <Relationship Id="rId1" Type="http://schemas.openxmlformats.org/officeDocument/2006/relationships/slideLayout" Target="../slideLayouts/slideLayout1.xml"/>
</Relationships>

</file>

<file path=ppt/slides/_rels/slide21.xml.rels><?xml version="1.0" encoding="utf-8"?>
<Relationships xmlns="http://schemas.openxmlformats.org/package/2006/relationships">
  <Relationship Id="rId2" Type="http://schemas.openxmlformats.org/officeDocument/2006/relationships/image" Target="../media/image6.jpg"/>
  <Relationship Id="rId1" Type="http://schemas.openxmlformats.org/officeDocument/2006/relationships/slideLayout" Target="../slideLayouts/slideLayout1.xml"/>
</Relationships>

</file>

<file path=ppt/slides/_rels/slide22.xml.rels><?xml version="1.0" encoding="utf-8"?>
<Relationships xmlns="http://schemas.openxmlformats.org/package/2006/relationships">
  <Relationship Id="rId2" Type="http://schemas.openxmlformats.org/officeDocument/2006/relationships/image" Target="../media/image7.jpg"/>
  <Relationship Id="rId1" Type="http://schemas.openxmlformats.org/officeDocument/2006/relationships/slideLayout" Target="../slideLayouts/slideLayout1.xml"/>
</Relationships>

</file>

<file path=ppt/slides/_rels/slide23.xml.rels><?xml version="1.0" encoding="utf-8"?>
<Relationships xmlns="http://schemas.openxmlformats.org/package/2006/relationships">
  <Relationship Id="rId2" Type="http://schemas.openxmlformats.org/officeDocument/2006/relationships/image" Target="../media/image8.jpg"/>
  <Relationship Id="rId1" Type="http://schemas.openxmlformats.org/officeDocument/2006/relationships/slideLayout" Target="../slideLayouts/slideLayout1.xml"/>
</Relationships>

</file>

<file path=ppt/slides/_rels/slide24.xml.rels><?xml version="1.0" encoding="utf-8"?>
<Relationships xmlns="http://schemas.openxmlformats.org/package/2006/relationships">
  <Relationship Id="rId2" Type="http://schemas.openxmlformats.org/officeDocument/2006/relationships/image" Target="../media/image9.jpg"/>
  <Relationship Id="rId1" Type="http://schemas.openxmlformats.org/officeDocument/2006/relationships/slideLayout" Target="../slideLayouts/slideLayout1.xml"/>
</Relationships>

</file>

<file path=ppt/slides/_rels/slide2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fraud_workflow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653796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0" y="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{{PRESENTATION_DATE}}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777240"/>
            <a:ext cx="1645920" cy="1645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0058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Award Nomination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457200" y="169164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57200" y="2377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SaaS Solution for Employee Recognition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83464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971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3246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{{CLIENT_NAME}}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terian-services.com  |  sales@terian-services.com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Discussion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286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258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2588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99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Capabilities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783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nomination workflow, fraud detection, AI analytics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4688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46888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42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Security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926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SaaS, private networking, high availability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6118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61188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685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3703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Roadmap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069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Four-phase onboarding from kick-off to go-live (4–6 weeks)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3258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32588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399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9496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SLA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3480" y="1783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times, escalation paths, and maintenance windows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4688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246888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2542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39496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&amp; Tiers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83480" y="2926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Starter, Professional &amp; Enterprise tiers</a:t>
            </a:r>
            <a:endParaRPr lang="en-US" sz="1000" dirty="0"/>
          </a:p>
        </p:txBody>
      </p:sp>
      <p:sp>
        <p:nvSpPr>
          <p:cNvPr id="32" name="Shape30"/>
          <p:cNvSpPr/>
          <p:nvPr/>
        </p:nvSpPr>
        <p:spPr>
          <a:xfrm>
            <a:off x="4846320" y="36118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3" name="Shape31"/>
          <p:cNvSpPr/>
          <p:nvPr/>
        </p:nvSpPr>
        <p:spPr>
          <a:xfrm>
            <a:off x="4846320" y="361188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32"/>
          <p:cNvSpPr/>
          <p:nvPr/>
        </p:nvSpPr>
        <p:spPr>
          <a:xfrm>
            <a:off x="4983480" y="3685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</a:rPr>
              <a:t>06</a:t>
            </a:r>
            <a:endParaRPr lang="en-US" sz="2000" dirty="0"/>
          </a:p>
        </p:txBody>
      </p:sp>
      <p:sp>
        <p:nvSpPr>
          <p:cNvPr id="35" name="Text33"/>
          <p:cNvSpPr/>
          <p:nvPr/>
        </p:nvSpPr>
        <p:spPr>
          <a:xfrm>
            <a:off x="5394960" y="3703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4"/>
                </a:solidFill>
                <a:latin typeface="Georgia" pitchFamily="34" charset="0"/>
              </a:rPr>
              <a:t>Next Steps</a:t>
            </a:r>
            <a:endParaRPr lang="en-US" sz="1300" dirty="0"/>
          </a:p>
        </p:txBody>
      </p:sp>
      <p:sp>
        <p:nvSpPr>
          <p:cNvPr id="36" name="Text34"/>
          <p:cNvSpPr/>
          <p:nvPr/>
        </p:nvSpPr>
        <p:spPr>
          <a:xfrm>
            <a:off x="4983480" y="4069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</a:rPr>
              <a:t>Pilot agreement, timeline, and sign-off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Award Nomination Platform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cloud-native, multi-tenant SaaS solution for employee recognition — built on Microsoft Azure.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645920"/>
            <a:ext cx="1920240" cy="1097280"/>
          </a:xfrm>
          <a:prstGeom prst="rect">
            <a:avLst/>
          </a:prstGeom>
          <a:solidFill>
            <a:srgbClr val="0F2744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645920"/>
            <a:ext cx="19202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55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99.99%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02920" y="22677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Uptime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(Azure Front Door)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1645920"/>
            <a:ext cx="1920240" cy="1097280"/>
          </a:xfrm>
          <a:prstGeom prst="rect">
            <a:avLst/>
          </a:prstGeom>
          <a:solidFill>
            <a:srgbClr val="0F2744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645920"/>
            <a:ext cx="19202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755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514600" y="22677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Regions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(East + West US)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40" y="1645920"/>
            <a:ext cx="1920240" cy="1097280"/>
          </a:xfrm>
          <a:prstGeom prst="rect">
            <a:avLst/>
          </a:prstGeom>
          <a:solidFill>
            <a:srgbClr val="0F2744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34840" y="1645920"/>
            <a:ext cx="19202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755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60s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526280" y="22677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Failover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46520" y="1645920"/>
            <a:ext cx="2286000" cy="1097280"/>
          </a:xfrm>
          <a:prstGeom prst="rect">
            <a:avLst/>
          </a:prstGeom>
          <a:solidFill>
            <a:srgbClr val="0F2744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1645920"/>
            <a:ext cx="2286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7556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GPT-4o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537960" y="22677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 Engine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(Azure OpenAI)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2907792"/>
            <a:ext cx="1920240" cy="1920240"/>
          </a:xfrm>
          <a:prstGeom prst="rect">
            <a:avLst/>
          </a:prstGeom>
          <a:solidFill>
            <a:srgbClr val="F0F6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2907792"/>
            <a:ext cx="64008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96265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Employee Nominations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3255264"/>
            <a:ext cx="184708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React SPA — employees nominate colleagues with amount, reason, and supporting evidence.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05456" y="2907792"/>
            <a:ext cx="1837944" cy="1920240"/>
          </a:xfrm>
          <a:prstGeom prst="rect">
            <a:avLst/>
          </a:prstGeom>
          <a:solidFill>
            <a:srgbClr val="F0F6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450592" y="2880360"/>
            <a:ext cx="54864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4892" y="296265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Manager Approval Flow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87752" y="3264408"/>
            <a:ext cx="184708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Email-based approval with cryptographic single-use tokens. No portal login required for managers.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54815" y="2907792"/>
            <a:ext cx="2011680" cy="1920240"/>
          </a:xfrm>
          <a:prstGeom prst="rect">
            <a:avLst/>
          </a:prstGeom>
          <a:solidFill>
            <a:srgbClr val="F0F6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54815" y="2907792"/>
            <a:ext cx="64008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3687" y="296265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Fraud Detection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3687" y="3255264"/>
            <a:ext cx="184708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feature Random Forest classifier plus SQL rule-based checks automatically block high-risk nominations.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88598" y="2907792"/>
            <a:ext cx="2011680" cy="1920240"/>
          </a:xfrm>
          <a:prstGeom prst="rect">
            <a:avLst/>
          </a:prstGeom>
          <a:solidFill>
            <a:srgbClr val="F0F6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88598" y="2907792"/>
            <a:ext cx="64008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07470" y="296265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Analytics Agent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07470" y="3255264"/>
            <a:ext cx="184708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natural language questions about nomination data. Powered by GPT-4o with direct SQL tool access.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 — Nomination 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Nomination Workflow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206240" cy="1508760"/>
          </a:xfrm>
          <a:prstGeom prst="rect">
            <a:avLst/>
          </a:prstGeom>
          <a:solidFill>
            <a:srgbClr val="F0F6FC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1208" y="143560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143560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 Nomination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1691640"/>
            <a:ext cx="36118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logs in via their company portal (custom subdomain). Selects a colleague, enters award amount, and describes the achievement.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81728" y="2039112"/>
            <a:ext cx="228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325880"/>
            <a:ext cx="4206240" cy="1508760"/>
          </a:xfrm>
          <a:prstGeom prst="rect">
            <a:avLst/>
          </a:prstGeom>
          <a:solidFill>
            <a:srgbClr val="F0F6FC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56048" y="143560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67528" y="143560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Screening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67528" y="1691640"/>
            <a:ext cx="36118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instantly scores the nomination using ML + SQL rules. CRITICAL risk (score 70–100) is blocked automatically. Others proceed.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017520"/>
            <a:ext cx="4206240" cy="1508760"/>
          </a:xfrm>
          <a:prstGeom prst="rect">
            <a:avLst/>
          </a:prstGeom>
          <a:solidFill>
            <a:srgbClr val="F0F6FC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1208" y="312724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312724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Manager Notification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" y="3383280"/>
            <a:ext cx="36118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receives an email with full nomination details, plus one-click Approve / Reject buttons using secure, single-use tokens.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81728" y="3730752"/>
            <a:ext cx="228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017520"/>
            <a:ext cx="4206240" cy="1508760"/>
          </a:xfrm>
          <a:prstGeom prst="rect">
            <a:avLst/>
          </a:prstGeom>
          <a:solidFill>
            <a:srgbClr val="F0F6FC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56048" y="312724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67528" y="312724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 &amp; Audit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67528" y="3383280"/>
            <a:ext cx="36118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nominations are logged with timestamp, approver, and full history. Admins can view all activity via the audit dashboard.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377440" y="2898648"/>
            <a:ext cx="45720" cy="20116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12280" y="2898648"/>
            <a:ext cx="45720" cy="20116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flow — from submission to approval record, with no manual system intervention required.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 — Fraud Detection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Fraud Detection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nomination is automatically screened before it reaches a manager — protecting {{CLIENT_NAME}} from misuse.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416052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572768"/>
            <a:ext cx="4160520" cy="34747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727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1 — Rule-Based SQL Checks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993392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nomination frequency 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beneficiary patterns 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/ reciprocal schemes 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Unusually high amounts (&gt; 2σ from baseline) 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approvals (&lt; 1 hour) 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Self-dealing network detection  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572768"/>
            <a:ext cx="406908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572768"/>
            <a:ext cx="4069080" cy="34747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57276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2 — ML Classifier (Random Forest)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9659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engineered features · Temporal + behavioural signals · Peer-group amount anomalies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2359152"/>
            <a:ext cx="3886200" cy="4754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235915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235915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70–100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0" y="235915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Auto-blocked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886200" cy="47548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292608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292608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50–69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0" y="29260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493008"/>
            <a:ext cx="3886200" cy="475488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349300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349300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30–49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0" y="34930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4059936"/>
            <a:ext cx="3886200" cy="47548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405993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35040" y="405993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1–29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0" y="405993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&amp; passed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 — AI Analytics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Analytics Agent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plain-English questions about your nomination data. Powered by Azure OpenAI GPT-4o — admin access only.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832104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60020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45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query: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department had the highest fraud score last month, and who were the top nominees?"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578608"/>
            <a:ext cx="2011680" cy="2286000"/>
          </a:xfrm>
          <a:prstGeom prst="rect">
            <a:avLst/>
          </a:prstGeom>
          <a:solidFill>
            <a:srgbClr val="F0F6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578608"/>
            <a:ext cx="64008" cy="228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63347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Text-to-SQL Queries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2926080"/>
            <a:ext cx="184708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converts plain-English questions into SQL queries against the live nomination database.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0" y="2578608"/>
            <a:ext cx="2011680" cy="2286000"/>
          </a:xfrm>
          <a:prstGeom prst="rect">
            <a:avLst/>
          </a:prstGeom>
          <a:solidFill>
            <a:srgbClr val="F0F6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0" y="2578608"/>
            <a:ext cx="64008" cy="228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9192" y="263347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Spending Analysis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79192" y="2926080"/>
            <a:ext cx="184708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award distribution by department, manager, or time period — identify trends and outliers.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578608"/>
            <a:ext cx="2011680" cy="2286000"/>
          </a:xfrm>
          <a:prstGeom prst="rect">
            <a:avLst/>
          </a:prstGeom>
          <a:solidFill>
            <a:srgbClr val="F0F6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578608"/>
            <a:ext cx="64008" cy="228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63347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Insights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28032" y="2926080"/>
            <a:ext cx="184708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ML model decisions, review high-risk nominations, and track fraud pattern evolution.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0" y="2578608"/>
            <a:ext cx="2011680" cy="2286000"/>
          </a:xfrm>
          <a:prstGeom prst="rect">
            <a:avLst/>
          </a:prstGeom>
          <a:solidFill>
            <a:srgbClr val="F0F6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0" y="2578608"/>
            <a:ext cx="64008" cy="228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76872" y="263347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Multi-Format Export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76872" y="2926080"/>
            <a:ext cx="184708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answers and supporting data as CSV, Excel, PDF, or directly to Azure Blob Storage.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agent actions are scoped to the authenticated admin's identity — context-aware, secure, and audit-logged.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Security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Layered Security Architecture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backend services are private — Azure Front Door is the sole public entry point. Zero Trust by design.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832104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0  —  DNS / Edge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57276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DNS → Azure Front Door (HTTPS only, HSTS enforced)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212848"/>
            <a:ext cx="7918704" cy="566928"/>
          </a:xfrm>
          <a:prstGeom prst="rect">
            <a:avLst/>
          </a:prstGeom>
          <a:solidFill>
            <a:srgbClr val="2196D4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21284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1  —  Public Perimeter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01568" y="2212848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Front Door · WAF (OWASP rules) · DDoS protection · TLS 1.2+ termination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8096" y="2852928"/>
            <a:ext cx="7516368" cy="56692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" y="28529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2  —  Application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02736" y="2852928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Apps (VNet-injected) · JWT validation on every request · RBAC app roles · TenantId isolation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69264" y="3493008"/>
            <a:ext cx="7114032" cy="56692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1106424" y="349300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3  —  Data Plane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03904" y="3493008"/>
            <a:ext cx="4187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Key Vault · Blob · ACR · OpenAI — private endpoints only, traffic stays on Azure backbone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70432" y="4133088"/>
            <a:ext cx="6711696" cy="566928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20" name="Text 18"/>
          <p:cNvSpPr/>
          <p:nvPr/>
        </p:nvSpPr>
        <p:spPr>
          <a:xfrm>
            <a:off x="1307592" y="413308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4  —  Secrets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05072" y="4133088"/>
            <a:ext cx="3785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 · RBAC-only access · Soft-delete 90 days · Managed Identity injection at runtime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 (Azure AD) · OAuth2 / OIDC · JWT validation · Managed Identities · TLS 1.2+ everywhere · SQL TDE + Blob encryption at rest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Security — Multi-Tenant SaaS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Multi-Tenant SaaS — {{CLIENT_NAME}} Configuration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client organisation receives a fully isolated, branded environment — no data is shared between tenants.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48463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572768"/>
            <a:ext cx="4846320" cy="38404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727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{{CLIENT_NAME}} Tenant Configuration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4754880" cy="438912"/>
          </a:xfrm>
          <a:prstGeom prst="rect">
            <a:avLst/>
          </a:prstGeom>
          <a:solidFill>
            <a:srgbClr val="F0F6FC"/>
          </a:solidFill>
          <a:ln w="12700">
            <a:solidFill>
              <a:srgbClr val="F0F6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665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URL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77440" y="20665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{{CLIENT_SUBDOMAIN}}.terian-services.com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25237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Tenant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77440" y="25237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{{CLIENT_SUBDOMAIN}}.onmicrosoft.com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4754880" cy="438912"/>
          </a:xfrm>
          <a:prstGeom prst="rect">
            <a:avLst/>
          </a:prstGeom>
          <a:solidFill>
            <a:srgbClr val="F0F6FC"/>
          </a:solidFill>
          <a:ln w="12700">
            <a:solidFill>
              <a:srgbClr val="F0F6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809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Colour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377440" y="29809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to {{CLIENT_NAME}} brand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34381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 / Currency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34381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en-US / USD (configurable)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4754880" cy="438912"/>
          </a:xfrm>
          <a:prstGeom prst="rect">
            <a:avLst/>
          </a:prstGeom>
          <a:solidFill>
            <a:srgbClr val="F0F6FC"/>
          </a:solidFill>
          <a:ln w="12700">
            <a:solidFill>
              <a:srgbClr val="F0F6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8953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Isolation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77440" y="38953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TenantId filter on every DB query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" y="43525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Roles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377440" y="43525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AWard_Nomination_Admin + Employee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94960" y="1572768"/>
            <a:ext cx="3337560" cy="713232"/>
          </a:xfrm>
          <a:prstGeom prst="rect">
            <a:avLst/>
          </a:prstGeom>
          <a:solidFill>
            <a:srgbClr val="F0F6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94960" y="1572768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13832" y="162763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Domain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13832" y="1920240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subdomain under terian-services.com from day one.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94960" y="2377440"/>
            <a:ext cx="3337560" cy="713232"/>
          </a:xfrm>
          <a:prstGeom prst="rect">
            <a:avLst/>
          </a:prstGeom>
          <a:solidFill>
            <a:srgbClr val="F0F6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94960" y="2377440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2432304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Theming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13832" y="2724912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colour, logo, and locale applied across the entire portal.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94960" y="3182112"/>
            <a:ext cx="3337560" cy="713232"/>
          </a:xfrm>
          <a:prstGeom prst="rect">
            <a:avLst/>
          </a:prstGeom>
          <a:solidFill>
            <a:srgbClr val="F0F6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94960" y="3182112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3236976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Data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13832" y="3529584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nominations, users, and analytics are TenantId-scoped — invisible to other tenants.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394960" y="3986784"/>
            <a:ext cx="3337560" cy="713232"/>
          </a:xfrm>
          <a:prstGeom prst="rect">
            <a:avLst/>
          </a:prstGeom>
          <a:solidFill>
            <a:srgbClr val="F0F6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394960" y="3986784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4041648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Portal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13832" y="4334256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log, fraud dashboard, AI agent, and ML model controls.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Security — High Availability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Availability &amp; Reliability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8321040" cy="38404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92040" y="1188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20840" y="11887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600200"/>
            <a:ext cx="83210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6733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(Azure Static Web Apps)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92040" y="16733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99.95%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16733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CDN edge, globally distributed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148840"/>
            <a:ext cx="8321040" cy="530352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2219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(Azure Front Door)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22219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22219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edge network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697480"/>
            <a:ext cx="83210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7706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(Container Apps — 2 regions)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99.95%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27706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US + West US, auto-failover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246120"/>
            <a:ext cx="8321040" cy="530352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3192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(Azure SQL)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92040" y="33192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33192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SQL HA with auto-failover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3822192"/>
            <a:ext cx="832104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Disaster Recovery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" y="4224528"/>
            <a:ext cx="192024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2611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5 min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57200" y="4645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— Automatic AFD failover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514600" y="4224528"/>
            <a:ext cx="192024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2514600" y="42611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≈ 0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560320" y="4645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— Active-active dual-region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17720" y="4224528"/>
            <a:ext cx="192024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4617720" y="42611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probes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663440" y="4645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Trigger — HEAD / every 100 seconds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720840" y="4224528"/>
            <a:ext cx="192024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6720840" y="42611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 days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766560" y="4645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Backup — Point-in-time restore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Onboarding Roadmap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signed agreement to full go-live in 4–6 weeks, across four structured phases.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7589520" cy="548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2176272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2670048"/>
            <a:ext cx="173736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670048"/>
            <a:ext cx="17373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Kick-Off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62072" y="2176272"/>
            <a:ext cx="402336" cy="40233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6207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40280" y="2670048"/>
            <a:ext cx="173736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40280" y="2670048"/>
            <a:ext cx="1737360" cy="731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2–3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Provisioning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82312" y="2176272"/>
            <a:ext cx="402336" cy="40233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60520" y="2670048"/>
            <a:ext cx="173736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60520" y="2670048"/>
            <a:ext cx="1737360" cy="731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0624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UAT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02552" y="2176272"/>
            <a:ext cx="402336" cy="402336"/>
          </a:xfrm>
          <a:prstGeom prst="ellipse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0255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80760" y="2670048"/>
            <a:ext cx="173736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2670048"/>
            <a:ext cx="1737360" cy="7315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2648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Go-Live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Handover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3192" y="3602736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tenant details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/ locale config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import format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313432" y="3602736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DB record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subdomain DNS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app reg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provisioning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233672" y="3602736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environment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user training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fixes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153912" y="3602736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cutover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 migration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support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handover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Roadmap — Phases 1 &amp;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Onboarding: Phases 1 &amp; 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4206240" cy="640080"/>
          </a:xfrm>
          <a:prstGeom prst="rect">
            <a:avLst/>
          </a:prstGeom>
          <a:solidFill>
            <a:srgbClr val="F0F6FC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1208" y="134416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44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134416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Kick-Off &amp; Discovery (Week 1)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160020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call to confirm requirements, collect Azure AD tenant details, brand assets, and user import CSV.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938528"/>
            <a:ext cx="4206240" cy="640080"/>
          </a:xfrm>
          <a:prstGeom prst="rect">
            <a:avLst/>
          </a:prstGeom>
          <a:solidFill>
            <a:srgbClr val="F0F6FC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21208" y="2048256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048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204825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 Record &amp; DNS (Week 2)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230428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 Services creates the tenant DB record, provisions the custom subdomain ({{CLIENT_SUBDOMAIN}}.terian-services.com), and configures DNS.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642616"/>
            <a:ext cx="4206240" cy="640080"/>
          </a:xfrm>
          <a:prstGeom prst="rect">
            <a:avLst/>
          </a:prstGeom>
          <a:solidFill>
            <a:srgbClr val="F0F6FC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1208" y="2752344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" y="275234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AD App Registration (Week 2)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300837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app registration configured for {{CLIENT_NAME}}'s Azure AD tenant. Redirect URIs and app roles assigned.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346704"/>
            <a:ext cx="4206240" cy="640080"/>
          </a:xfrm>
          <a:prstGeom prst="rect">
            <a:avLst/>
          </a:prstGeom>
          <a:solidFill>
            <a:srgbClr val="F0F6FC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1208" y="34564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3456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" y="345643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Provisioning (Week 2–3)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2688" y="371246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directory imported from CSV or Azure AD sync. Manager hierarchy configured for approval routing.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234440"/>
            <a:ext cx="4069080" cy="27523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234440"/>
            <a:ext cx="406908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2344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1–2 Deliverables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16642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Requirements sign-off document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20848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{{CLIENT_SUBDOMAIN}}.terian-services.com live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25054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Azure AD app registration complete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Employee directory imported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00600" y="33467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Sandbox environment accessible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0600" y="3767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Admin credentials issued to 2 key contacts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11480" y="4114800"/>
            <a:ext cx="8321040" cy="685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13308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 Services manages all provisioning tasks. {{CLIENT_NAME}} provides: Azure AD tenant ID, brand assets (logo, hex colour), and employee CSV. No infrastructure setup required on your side.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Roadmap — Phases 3 &amp;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Onboarding: Phases 3 &amp; 4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4206240" cy="25786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34440"/>
            <a:ext cx="4206240" cy="3657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— UAT &amp; Training (Week 3–4)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Sandbox Access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892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{{CLIENT_NAME}} team gets sandbox credentials. Full nomination workflow available for testing.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2219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Training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45-min walkthrough: fraud dashboard, AI agent, user management, audit log.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7523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Training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9535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guide + video for employees and managers (nomination + approval flows).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2826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UAT Sign-Off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483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 resolves all raised issues within SLA. Formal sign-off document issued.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4069080" cy="25786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234440"/>
            <a:ext cx="4069080" cy="3657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2344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 — Go-Live &amp; Handover (Week 5–6)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16916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Cutover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1892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promoted to production. DNS updated. SSL certificate verified.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22219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Migration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employee directory loaded. Historical data imported if required.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0600" y="27523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Hypercare Period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2953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intensive support. Daily check-in call available. Priority P1 response.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32826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Documentation Handover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34838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runbook, API docs (Swagger), architecture overview, and escalation contacts.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3977640"/>
            <a:ext cx="1965960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9959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3159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Kick-Off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14600" y="3977640"/>
            <a:ext cx="1965960" cy="77724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2" name="Text 30"/>
          <p:cNvSpPr/>
          <p:nvPr/>
        </p:nvSpPr>
        <p:spPr>
          <a:xfrm>
            <a:off x="2560320" y="39959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560320" y="43159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Provisioning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17720" y="3977640"/>
            <a:ext cx="1965960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39959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0" y="43159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720840" y="3977640"/>
            <a:ext cx="1965960" cy="7772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0" y="39959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66560" y="43159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Go-Live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SLA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Service Level Agreement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07008"/>
            <a:ext cx="8321040" cy="3657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1207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51960" y="12070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32120" y="12070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03720" y="12070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600200"/>
            <a:ext cx="83210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1600200"/>
            <a:ext cx="201168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6733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Critical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16733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down or data loss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03320" y="16733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hour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16733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 hours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16733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+ Email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2167128"/>
            <a:ext cx="8321040" cy="530352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2167128"/>
            <a:ext cx="201168" cy="5303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22402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High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91640" y="2240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broken, workaround exists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03320" y="22402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 hours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2240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24 hours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2240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Ticket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2734056"/>
            <a:ext cx="83210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11480" y="2734056"/>
            <a:ext cx="201168" cy="530352"/>
          </a:xfrm>
          <a:prstGeom prst="rect">
            <a:avLst/>
          </a:prstGeom>
          <a:solidFill>
            <a:srgbClr val="2196D4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28072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Medium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91640" y="28072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performance or minor bug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03320" y="28072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day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28072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days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28072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1480" y="3300984"/>
            <a:ext cx="8321040" cy="530352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34" name="Shape 32"/>
          <p:cNvSpPr/>
          <p:nvPr/>
        </p:nvSpPr>
        <p:spPr>
          <a:xfrm>
            <a:off x="411480" y="3300984"/>
            <a:ext cx="201168" cy="5303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" y="33741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Low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691640" y="33741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request or question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703320" y="33741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days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83480" y="33741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release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337413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/ Email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3913632"/>
            <a:ext cx="416052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39867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Scope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11480" y="4261104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bugs and incident resolution 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and admin account management 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model retraining (quarterly or on demand) 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configuration changes (locale, theme, roles)  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3913632"/>
            <a:ext cx="40690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398678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Maintenance Windows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63440" y="4261104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Scheduled: Sundays 02:00–04:00 UTC 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advance notice for planned downtime 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deploys via blue/green (target) 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patches applied outside windows as needed  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 — Getting Started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actions to kick off the {{CLIENT_NAME}} onboarding: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8321040" cy="1005840"/>
          </a:xfrm>
          <a:prstGeom prst="rect">
            <a:avLst/>
          </a:prstGeom>
          <a:solidFill>
            <a:srgbClr val="F0F6FC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1208" y="170992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709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1709928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Agreement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1965960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the Terian Services SaaS Pilot Agreement (30-day no-obligation pilot). No infrastructure commitment required. Covers data privacy, uptime commitment, and support scope.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697480"/>
            <a:ext cx="8321040" cy="1005840"/>
          </a:xfrm>
          <a:prstGeom prst="rect">
            <a:avLst/>
          </a:prstGeom>
          <a:solidFill>
            <a:srgbClr val="F0F6FC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1208" y="280720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2807208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 Onboarding Inputs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2688" y="3063240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Azure AD tenant ID, primary brand colour (hex), company logo (PNG), and an employee CSV (name, email, manager email). Terian handles everything from there.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794760"/>
            <a:ext cx="8321040" cy="1005840"/>
          </a:xfrm>
          <a:prstGeom prst="rect">
            <a:avLst/>
          </a:prstGeom>
          <a:solidFill>
            <a:srgbClr val="F0F6FC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1208" y="390448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904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3904488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Kick-Off Call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" y="4160520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60-minute kick-off call with Terian Services. We'll confirm all requirements, walk through the sandbox live, and set the go-live target date.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4645152"/>
            <a:ext cx="832104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71830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 Terian Services  ·  sales@terian-services.com  ·  terian-services.com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53796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0" y="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{{PRESENTATION_DATE}}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914400"/>
            <a:ext cx="1463040" cy="1463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0058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457200" y="16916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{{CLIENT_NAME}}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57200" y="233172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468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2788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David Terian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3200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sales@terian-services.com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354787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terian-services.com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7365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Nomination Platform  ·  Enterprise SaaS  ·  Built on Microsoft Azure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Terian Services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11480"/>
            <a:ext cx="109728" cy="47320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Screenshots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3017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views from the Award Nomination Platform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{{CLIENT_NAME}} Onboarding  |  © 2025 Terian Services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Terian Services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47548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06115" y="941832"/>
            <a:ext cx="2860602" cy="344728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395" y="896112"/>
            <a:ext cx="2860602" cy="3447288"/>
          </a:xfrm>
          <a:prstGeom prst="rect">
            <a:avLst/>
          </a:prstGeom>
          <a:solidFill>
            <a:srgbClr val="FFFFFF"/>
          </a:solidFill>
          <a:ln w="9525">
            <a:solidFill>
              <a:srgbClr val="D1DCE8"/>
            </a:solidFill>
            <a:prstDash val="solid"/>
          </a:ln>
        </p:spPr>
      </p:sp>
      <p:pic>
        <p:nvPicPr>
          <p:cNvPr id="10" name="Image 0" descr="/sessions/zen-charming-curie/real_screenshots/screenshot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395" y="896112"/>
            <a:ext cx="2860602" cy="344728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332477" y="1170432"/>
            <a:ext cx="3796848" cy="299008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86757" y="1124712"/>
            <a:ext cx="3796848" cy="2990088"/>
          </a:xfrm>
          <a:prstGeom prst="rect">
            <a:avLst/>
          </a:prstGeom>
          <a:solidFill>
            <a:srgbClr val="FFFFFF"/>
          </a:solidFill>
          <a:ln w="9525">
            <a:solidFill>
              <a:srgbClr val="D1DCE8"/>
            </a:solidFill>
            <a:prstDash val="solid"/>
          </a:ln>
        </p:spPr>
      </p:sp>
      <p:pic>
        <p:nvPicPr>
          <p:cNvPr id="13" name="Image 1" descr="/sessions/zen-charming-curie/real_screenshots/screenshot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757" y="1124712"/>
            <a:ext cx="3796848" cy="29900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60395" y="4389120"/>
            <a:ext cx="28606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Nomination Login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286757" y="4160520"/>
            <a:ext cx="3796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SSO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20040" y="44805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Microsoft SSO (Azure AD / MSAL) authentication with MFA. The branded app login card routes directly to Microsoft's identity platform, ensuring enterprise-grade security from first click.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{{CLIENT_NAME}} Onboarding  |  © 2025 Terian Services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Terian Services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47548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Screen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50872" y="941832"/>
            <a:ext cx="5533697" cy="344728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05152" y="896112"/>
            <a:ext cx="5533697" cy="3447288"/>
          </a:xfrm>
          <a:prstGeom prst="rect">
            <a:avLst/>
          </a:prstGeom>
          <a:solidFill>
            <a:srgbClr val="FFFFFF"/>
          </a:solidFill>
          <a:ln w="9525">
            <a:solidFill>
              <a:srgbClr val="D1DCE8"/>
            </a:solidFill>
            <a:prstDash val="solid"/>
          </a:ln>
        </p:spPr>
      </p:sp>
      <p:pic>
        <p:nvPicPr>
          <p:cNvPr id="10" name="Image 0" descr="/sessions/zen-charming-curie/real_screenshots/screenshot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152" y="896112"/>
            <a:ext cx="5533697" cy="34472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445312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navigation bar provides one-click access to all four modules: Nominate Employee, My Nominations, Pending Approvals (with live badge count), and Analytics &amp; Reporting.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{{CLIENT_NAME}} Onboarding  |  © 2025 Terian Services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Terian Services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47548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Award Nomination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49470" y="941832"/>
            <a:ext cx="5136500" cy="344728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03750" y="896112"/>
            <a:ext cx="5136500" cy="3447288"/>
          </a:xfrm>
          <a:prstGeom prst="rect">
            <a:avLst/>
          </a:prstGeom>
          <a:solidFill>
            <a:srgbClr val="FFFFFF"/>
          </a:solidFill>
          <a:ln w="9525">
            <a:solidFill>
              <a:srgbClr val="D1DCE8"/>
            </a:solidFill>
            <a:prstDash val="solid"/>
          </a:ln>
        </p:spPr>
      </p:sp>
      <p:pic>
        <p:nvPicPr>
          <p:cNvPr id="10" name="Image 0" descr="/sessions/zen-charming-curie/real_screenshots/screenshot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750" y="896112"/>
            <a:ext cx="5136500" cy="34472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445312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select a nominee from the company directory, enter an award amount ($50–$5,000), and provide a supporting description. One click submits the nomination for manager approval.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{{CLIENT_NAME}} Onboarding  |  © 2025 Terian Services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Terian Services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47548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Notification Email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83058" y="941832"/>
            <a:ext cx="5069324" cy="344728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37338" y="896112"/>
            <a:ext cx="5069324" cy="3447288"/>
          </a:xfrm>
          <a:prstGeom prst="rect">
            <a:avLst/>
          </a:prstGeom>
          <a:solidFill>
            <a:srgbClr val="FFFFFF"/>
          </a:solidFill>
          <a:ln w="9525">
            <a:solidFill>
              <a:srgbClr val="D1DCE8"/>
            </a:solidFill>
            <a:prstDash val="solid"/>
          </a:ln>
        </p:spPr>
      </p:sp>
      <p:pic>
        <p:nvPicPr>
          <p:cNvPr id="10" name="Image 0" descr="/sessions/zen-charming-curie/real_screenshots/screenshot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338" y="896112"/>
            <a:ext cx="5069324" cy="34472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445312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approving manager receives a rich HTML email with full nomination details and embedded Approve / Reject action buttons — no app login required to act on a nomination.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{{CLIENT_NAME}} Onboarding  |  © 2025 Terian Services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Terian Services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47548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Impersonation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02844" y="941832"/>
            <a:ext cx="6629751" cy="344728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124" y="896112"/>
            <a:ext cx="6629751" cy="3447288"/>
          </a:xfrm>
          <a:prstGeom prst="rect">
            <a:avLst/>
          </a:prstGeom>
          <a:solidFill>
            <a:srgbClr val="FFFFFF"/>
          </a:solidFill>
          <a:ln w="9525">
            <a:solidFill>
              <a:srgbClr val="D1DCE8"/>
            </a:solidFill>
            <a:prstDash val="solid"/>
          </a:ln>
        </p:spPr>
      </p:sp>
      <p:pic>
        <p:nvPicPr>
          <p:cNvPr id="10" name="Image 0" descr="/sessions/zen-charming-curie/real_screenshots/screenshot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124" y="896112"/>
            <a:ext cx="6629751" cy="34472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445312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search for any user and assume their identity for support or troubleshooting. All actions during an impersonation session are fully audit-logged with both accounts recorded.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{{CLIENT_NAME}} Onboarding  |  © 2025 Terian Services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Terian Services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47548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Approval Queue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0540" y="941832"/>
            <a:ext cx="7754361" cy="344728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820" y="896112"/>
            <a:ext cx="7754361" cy="3447288"/>
          </a:xfrm>
          <a:prstGeom prst="rect">
            <a:avLst/>
          </a:prstGeom>
          <a:solidFill>
            <a:srgbClr val="FFFFFF"/>
          </a:solidFill>
          <a:ln w="9525">
            <a:solidFill>
              <a:srgbClr val="D1DCE8"/>
            </a:solidFill>
            <a:prstDash val="solid"/>
          </a:ln>
        </p:spPr>
      </p:sp>
      <p:pic>
        <p:nvPicPr>
          <p:cNvPr id="10" name="Image 0" descr="/sessions/zen-charming-curie/real_screenshots/screenshot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20" y="896112"/>
            <a:ext cx="7754361" cy="34472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445312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see all pending nominations with nominee details, award amounts, and submitter info. Inline Approve / Reject controls trigger instant status updates and email confirmations. The purple banner indicates an active admin impersonation session.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{{CLIENT_NAME}} Onboarding  |  © 2025 Terian Services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Terian Services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47548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39587" y="941832"/>
            <a:ext cx="5556266" cy="344728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93867" y="896112"/>
            <a:ext cx="5556266" cy="3447288"/>
          </a:xfrm>
          <a:prstGeom prst="rect">
            <a:avLst/>
          </a:prstGeom>
          <a:solidFill>
            <a:srgbClr val="FFFFFF"/>
          </a:solidFill>
          <a:ln w="9525">
            <a:solidFill>
              <a:srgbClr val="D1DCE8"/>
            </a:solidFill>
            <a:prstDash val="solid"/>
          </a:ln>
        </p:spPr>
      </p:sp>
      <p:pic>
        <p:nvPicPr>
          <p:cNvPr id="10" name="Image 0" descr="/sessions/zen-charming-curie/real_screenshots/screenshot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867" y="896112"/>
            <a:ext cx="5556266" cy="34472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445312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Overview dashboard presents real-time KPIs: Total Spent, Nomination Volume, Pending Approvals, and Fraud Alerts — with department-level spending breakdowns and month-over-month trend indicators.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{{CLIENT_NAME}} Onboarding  |  © 2025 Terian Services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Terian Services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47548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 Agent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25262" y="941832"/>
            <a:ext cx="7184917" cy="344728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9542" y="896112"/>
            <a:ext cx="7184917" cy="3447288"/>
          </a:xfrm>
          <a:prstGeom prst="rect">
            <a:avLst/>
          </a:prstGeom>
          <a:solidFill>
            <a:srgbClr val="FFFFFF"/>
          </a:solidFill>
          <a:ln w="9525">
            <a:solidFill>
              <a:srgbClr val="D1DCE8"/>
            </a:solidFill>
            <a:prstDash val="solid"/>
          </a:ln>
        </p:spPr>
      </p:sp>
      <p:pic>
        <p:nvPicPr>
          <p:cNvPr id="10" name="Image 0" descr="/sessions/zen-charming-curie/real_screenshots/screenshot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542" y="896112"/>
            <a:ext cx="7184917" cy="34472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445312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ask plain-English questions — e.g. "Show spending per department and export to Excel" — and the GPT-4o powered agent translates them into SQL, runs the query, and returns a narrative answer with a downloadable Excel export.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{{CLIENT_NAME}} Onboarding  |  © 2025 Terian Services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icing and Tiers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HdrLeft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</a:rPr>
              <a:t>Provided by:  Terian Services</a:t>
            </a:r>
            <a:endParaRPr lang="en-US" sz="1000" dirty="0"/>
          </a:p>
        </p:txBody>
      </p:sp>
      <p:sp>
        <p:nvSpPr>
          <p:cNvPr id="4" name="HdrRight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</a:rPr>
              <a:t>Pricing &amp; Tiers</a:t>
            </a:r>
            <a:endParaRPr lang="en-US" sz="900" dirty="0"/>
          </a:p>
        </p:txBody>
      </p:sp>
      <p:sp>
        <p:nvSpPr>
          <p:cNvPr id="5" name="SlideTitle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744"/>
                </a:solidFill>
                <a:latin typeface="Georgia" pitchFamily="34" charset="0"/>
              </a:rPr>
              <a:t>Pricing &amp; Tiers</a:t>
            </a:r>
            <a:endParaRPr lang="en-US" sz="3000" dirty="0"/>
          </a:p>
        </p:txBody>
      </p:sp>
      <p:sp>
        <p:nvSpPr>
          <p:cNvPr id="6" name="CyanLine"/>
          <p:cNvSpPr/>
          <p:nvPr/>
        </p:nvSpPr>
        <p:spPr>
          <a:xfrm>
            <a:off x="457200" y="1188720"/>
            <a:ext cx="2286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CardBg"/>
          <p:cNvSpPr/>
          <p:nvPr/>
        </p:nvSpPr>
        <p:spPr>
          <a:xfrm>
            <a:off x="274320" y="1280000"/>
            <a:ext cx="2743200" cy="37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CardHdr"/>
          <p:cNvSpPr/>
          <p:nvPr/>
        </p:nvSpPr>
        <p:spPr>
          <a:xfrm>
            <a:off x="274320" y="1280000"/>
            <a:ext cx="2743200" cy="6400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ierName"/>
          <p:cNvSpPr/>
          <p:nvPr/>
        </p:nvSpPr>
        <p:spPr>
          <a:xfrm>
            <a:off x="274320" y="1410000"/>
            <a:ext cx="27432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</a:rPr>
              <a:t>Starter</a:t>
            </a:r>
            <a:endParaRPr lang="en-US" sz="1600" dirty="0"/>
          </a:p>
        </p:txBody>
      </p:sp>
      <p:sp>
        <p:nvSpPr>
          <p:cNvPr id="10" name="Price"/>
          <p:cNvSpPr/>
          <p:nvPr/>
        </p:nvSpPr>
        <p:spPr>
          <a:xfrm>
            <a:off x="274320" y="1980000"/>
            <a:ext cx="27432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2744"/>
                </a:solidFill>
                <a:latin typeface="Georgia" pitchFamily="34" charset="0"/>
              </a:rPr>
              <a:t>$189/mo</a:t>
            </a:r>
            <a:endParaRPr lang="en-US" sz="3400" dirty="0"/>
          </a:p>
        </p:txBody>
      </p:sp>
      <p:sp>
        <p:nvSpPr>
          <p:cNvPr id="11" name="Per"/>
          <p:cNvSpPr/>
          <p:nvPr/>
        </p:nvSpPr>
        <p:spPr>
          <a:xfrm>
            <a:off x="274320" y="2550000"/>
            <a:ext cx="27432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</a:rPr>
              <a:t>or $1,788/yr</a:t>
            </a:r>
            <a:endParaRPr lang="en-US" sz="900" dirty="0"/>
          </a:p>
        </p:txBody>
      </p:sp>
      <p:sp>
        <p:nvSpPr>
          <p:cNvPr id="12" name="Annual"/>
          <p:cNvSpPr/>
          <p:nvPr/>
        </p:nvSpPr>
        <p:spPr>
          <a:xfrm>
            <a:off x="274320" y="2810000"/>
            <a:ext cx="27432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</a:rPr>
              <a:t>($149/mo billed annually)</a:t>
            </a:r>
            <a:endParaRPr lang="en-US" sz="850" dirty="0"/>
          </a:p>
        </p:txBody>
      </p:sp>
      <p:sp>
        <p:nvSpPr>
          <p:cNvPr id="13" name="Div"/>
          <p:cNvSpPr/>
          <p:nvPr/>
        </p:nvSpPr>
        <p:spPr>
          <a:xfrm>
            <a:off x="384048" y="3090000"/>
            <a:ext cx="2523744" cy="18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Users"/>
          <p:cNvSpPr/>
          <p:nvPr/>
        </p:nvSpPr>
        <p:spPr>
          <a:xfrm>
            <a:off x="384048" y="3160000"/>
            <a:ext cx="2523744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</a:rPr>
              <a:t>Up to 50 users</a:t>
            </a:r>
            <a:endParaRPr lang="en-US" sz="1050" dirty="0"/>
          </a:p>
        </p:txBody>
      </p:sp>
      <p:sp>
        <p:nvSpPr>
          <p:cNvPr id="15" name="Feat1"/>
          <p:cNvSpPr/>
          <p:nvPr/>
        </p:nvSpPr>
        <p:spPr>
          <a:xfrm>
            <a:off x="384048" y="3490000"/>
            <a:ext cx="2523744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</a:rPr>
              <a:t>· Core nomination workflow</a:t>
            </a:r>
            <a:endParaRPr lang="en-US" sz="900" dirty="0"/>
          </a:p>
        </p:txBody>
      </p:sp>
      <p:sp>
        <p:nvSpPr>
          <p:cNvPr id="16" name="Feat2"/>
          <p:cNvSpPr/>
          <p:nvPr/>
        </p:nvSpPr>
        <p:spPr>
          <a:xfrm>
            <a:off x="384048" y="3755000"/>
            <a:ext cx="2523744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</a:rPr>
              <a:t>· Fraud detection &amp; AI analytics</a:t>
            </a:r>
            <a:endParaRPr lang="en-US" sz="900" dirty="0"/>
          </a:p>
        </p:txBody>
      </p:sp>
      <p:sp>
        <p:nvSpPr>
          <p:cNvPr id="17" name="Feat3"/>
          <p:cNvSpPr/>
          <p:nvPr/>
        </p:nvSpPr>
        <p:spPr>
          <a:xfrm>
            <a:off x="384048" y="4020000"/>
            <a:ext cx="2523744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</a:rPr>
              <a:t>· Standard support (email)</a:t>
            </a:r>
            <a:endParaRPr lang="en-US" sz="900" dirty="0"/>
          </a:p>
        </p:txBody>
      </p:sp>
      <p:sp>
        <p:nvSpPr>
          <p:cNvPr id="18" name="Feat4"/>
          <p:cNvSpPr/>
          <p:nvPr/>
        </p:nvSpPr>
        <p:spPr>
          <a:xfrm>
            <a:off x="384048" y="4285000"/>
            <a:ext cx="2523744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</a:rPr>
              <a:t>· Single-region deployment</a:t>
            </a:r>
            <a:endParaRPr lang="en-US" sz="900" dirty="0"/>
          </a:p>
        </p:txBody>
      </p:sp>
      <p:sp>
        <p:nvSpPr>
          <p:cNvPr id="19" name="CardBg"/>
          <p:cNvSpPr/>
          <p:nvPr/>
        </p:nvSpPr>
        <p:spPr>
          <a:xfrm>
            <a:off x="3200400" y="1280000"/>
            <a:ext cx="2743200" cy="37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CardHdr"/>
          <p:cNvSpPr/>
          <p:nvPr/>
        </p:nvSpPr>
        <p:spPr>
          <a:xfrm>
            <a:off x="3200400" y="1280000"/>
            <a:ext cx="2743200" cy="640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Badge"/>
          <p:cNvSpPr/>
          <p:nvPr/>
        </p:nvSpPr>
        <p:spPr>
          <a:xfrm>
            <a:off x="3200400" y="1370000"/>
            <a:ext cx="27432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</a:rPr>
              <a:t>★  MOST POPULAR  ★</a:t>
            </a:r>
            <a:endParaRPr lang="en-US" sz="700" dirty="0"/>
          </a:p>
        </p:txBody>
      </p:sp>
      <p:sp>
        <p:nvSpPr>
          <p:cNvPr id="22" name="TierName"/>
          <p:cNvSpPr/>
          <p:nvPr/>
        </p:nvSpPr>
        <p:spPr>
          <a:xfrm>
            <a:off x="3200400" y="1580000"/>
            <a:ext cx="274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</a:rPr>
              <a:t>Professional</a:t>
            </a:r>
            <a:endParaRPr lang="en-US" sz="1600" dirty="0"/>
          </a:p>
        </p:txBody>
      </p:sp>
      <p:sp>
        <p:nvSpPr>
          <p:cNvPr id="23" name="Price"/>
          <p:cNvSpPr/>
          <p:nvPr/>
        </p:nvSpPr>
        <p:spPr>
          <a:xfrm>
            <a:off x="3200400" y="1980000"/>
            <a:ext cx="27432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2744"/>
                </a:solidFill>
                <a:latin typeface="Georgia" pitchFamily="34" charset="0"/>
              </a:rPr>
              <a:t>$624/mo</a:t>
            </a:r>
            <a:endParaRPr lang="en-US" sz="3400" dirty="0"/>
          </a:p>
        </p:txBody>
      </p:sp>
      <p:sp>
        <p:nvSpPr>
          <p:cNvPr id="24" name="Per"/>
          <p:cNvSpPr/>
          <p:nvPr/>
        </p:nvSpPr>
        <p:spPr>
          <a:xfrm>
            <a:off x="3200400" y="2550000"/>
            <a:ext cx="27432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</a:rPr>
              <a:t>or $5,988/yr</a:t>
            </a:r>
            <a:endParaRPr lang="en-US" sz="900" dirty="0"/>
          </a:p>
        </p:txBody>
      </p:sp>
      <p:sp>
        <p:nvSpPr>
          <p:cNvPr id="25" name="Annual"/>
          <p:cNvSpPr/>
          <p:nvPr/>
        </p:nvSpPr>
        <p:spPr>
          <a:xfrm>
            <a:off x="3200400" y="2810000"/>
            <a:ext cx="27432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</a:rPr>
              <a:t>($499/mo billed annually)</a:t>
            </a:r>
            <a:endParaRPr lang="en-US" sz="850" dirty="0"/>
          </a:p>
        </p:txBody>
      </p:sp>
      <p:sp>
        <p:nvSpPr>
          <p:cNvPr id="26" name="Div"/>
          <p:cNvSpPr/>
          <p:nvPr/>
        </p:nvSpPr>
        <p:spPr>
          <a:xfrm>
            <a:off x="3310128" y="3090000"/>
            <a:ext cx="2523744" cy="18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Users"/>
          <p:cNvSpPr/>
          <p:nvPr/>
        </p:nvSpPr>
        <p:spPr>
          <a:xfrm>
            <a:off x="3310128" y="3160000"/>
            <a:ext cx="2523744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</a:rPr>
              <a:t>50 – 500 users</a:t>
            </a:r>
            <a:endParaRPr lang="en-US" sz="1050" dirty="0"/>
          </a:p>
        </p:txBody>
      </p:sp>
      <p:sp>
        <p:nvSpPr>
          <p:cNvPr id="28" name="Feat1"/>
          <p:cNvSpPr/>
          <p:nvPr/>
        </p:nvSpPr>
        <p:spPr>
          <a:xfrm>
            <a:off x="3310128" y="3490000"/>
            <a:ext cx="2523744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</a:rPr>
              <a:t>· Full workflow + advanced AI analytics</a:t>
            </a:r>
            <a:endParaRPr lang="en-US" sz="900" dirty="0"/>
          </a:p>
        </p:txBody>
      </p:sp>
      <p:sp>
        <p:nvSpPr>
          <p:cNvPr id="29" name="Feat2"/>
          <p:cNvSpPr/>
          <p:nvPr/>
        </p:nvSpPr>
        <p:spPr>
          <a:xfrm>
            <a:off x="3310128" y="3755000"/>
            <a:ext cx="2523744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</a:rPr>
              <a:t>· Multi-region failover</a:t>
            </a:r>
            <a:endParaRPr lang="en-US" sz="900" dirty="0"/>
          </a:p>
        </p:txBody>
      </p:sp>
      <p:sp>
        <p:nvSpPr>
          <p:cNvPr id="30" name="Feat3"/>
          <p:cNvSpPr/>
          <p:nvPr/>
        </p:nvSpPr>
        <p:spPr>
          <a:xfrm>
            <a:off x="3310128" y="4020000"/>
            <a:ext cx="2523744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</a:rPr>
              <a:t>· Priority support (24-hour response)</a:t>
            </a:r>
            <a:endParaRPr lang="en-US" sz="900" dirty="0"/>
          </a:p>
        </p:txBody>
      </p:sp>
      <p:sp>
        <p:nvSpPr>
          <p:cNvPr id="31" name="Feat4"/>
          <p:cNvSpPr/>
          <p:nvPr/>
        </p:nvSpPr>
        <p:spPr>
          <a:xfrm>
            <a:off x="3310128" y="4285000"/>
            <a:ext cx="2523744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</a:rPr>
              <a:t>· Advanced reporting &amp; audit logs</a:t>
            </a:r>
            <a:endParaRPr lang="en-US" sz="900" dirty="0"/>
          </a:p>
        </p:txBody>
      </p:sp>
      <p:sp>
        <p:nvSpPr>
          <p:cNvPr id="32" name="CardBg"/>
          <p:cNvSpPr/>
          <p:nvPr/>
        </p:nvSpPr>
        <p:spPr>
          <a:xfrm>
            <a:off x="6126480" y="1280000"/>
            <a:ext cx="2743200" cy="37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3" name="CardHdr"/>
          <p:cNvSpPr/>
          <p:nvPr/>
        </p:nvSpPr>
        <p:spPr>
          <a:xfrm>
            <a:off x="6126480" y="1280000"/>
            <a:ext cx="2743200" cy="6400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TierName"/>
          <p:cNvSpPr/>
          <p:nvPr/>
        </p:nvSpPr>
        <p:spPr>
          <a:xfrm>
            <a:off x="6126480" y="1410000"/>
            <a:ext cx="27432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</a:rPr>
              <a:t>Enterprise</a:t>
            </a:r>
            <a:endParaRPr lang="en-US" sz="1600" dirty="0"/>
          </a:p>
        </p:txBody>
      </p:sp>
      <p:sp>
        <p:nvSpPr>
          <p:cNvPr id="35" name="Price"/>
          <p:cNvSpPr/>
          <p:nvPr/>
        </p:nvSpPr>
        <p:spPr>
          <a:xfrm>
            <a:off x="6126480" y="1980000"/>
            <a:ext cx="27432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2744"/>
                </a:solidFill>
                <a:latin typeface="Georgia" pitchFamily="34" charset="0"/>
              </a:rPr>
              <a:t>Custom</a:t>
            </a:r>
            <a:endParaRPr lang="en-US" sz="3400" dirty="0"/>
          </a:p>
        </p:txBody>
      </p:sp>
      <p:sp>
        <p:nvSpPr>
          <p:cNvPr id="36" name="Per"/>
          <p:cNvSpPr/>
          <p:nvPr/>
        </p:nvSpPr>
        <p:spPr>
          <a:xfrm>
            <a:off x="6126480" y="2550000"/>
            <a:ext cx="27432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</a:rPr>
              <a:t>pricing</a:t>
            </a:r>
            <a:endParaRPr lang="en-US" sz="900" dirty="0"/>
          </a:p>
        </p:txBody>
      </p:sp>
      <p:sp>
        <p:nvSpPr>
          <p:cNvPr id="37" name="Annual"/>
          <p:cNvSpPr/>
          <p:nvPr/>
        </p:nvSpPr>
        <p:spPr>
          <a:xfrm>
            <a:off x="6126480" y="2810000"/>
            <a:ext cx="27432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</a:rPr>
              <a:t>Contact sales for a quote</a:t>
            </a:r>
            <a:endParaRPr lang="en-US" sz="850" dirty="0"/>
          </a:p>
        </p:txBody>
      </p:sp>
      <p:sp>
        <p:nvSpPr>
          <p:cNvPr id="38" name="Div"/>
          <p:cNvSpPr/>
          <p:nvPr/>
        </p:nvSpPr>
        <p:spPr>
          <a:xfrm>
            <a:off x="6236208" y="3090000"/>
            <a:ext cx="2523744" cy="18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9" name="Users"/>
          <p:cNvSpPr/>
          <p:nvPr/>
        </p:nvSpPr>
        <p:spPr>
          <a:xfrm>
            <a:off x="6236208" y="3160000"/>
            <a:ext cx="2523744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</a:rPr>
              <a:t>500+ users</a:t>
            </a:r>
            <a:endParaRPr lang="en-US" sz="1050" dirty="0"/>
          </a:p>
        </p:txBody>
      </p:sp>
      <p:sp>
        <p:nvSpPr>
          <p:cNvPr id="40" name="Feat1"/>
          <p:cNvSpPr/>
          <p:nvPr/>
        </p:nvSpPr>
        <p:spPr>
          <a:xfrm>
            <a:off x="6236208" y="3490000"/>
            <a:ext cx="2523744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</a:rPr>
              <a:t>· Custom implementation &amp; config</a:t>
            </a:r>
            <a:endParaRPr lang="en-US" sz="900" dirty="0"/>
          </a:p>
        </p:txBody>
      </p:sp>
      <p:sp>
        <p:nvSpPr>
          <p:cNvPr id="41" name="Feat2"/>
          <p:cNvSpPr/>
          <p:nvPr/>
        </p:nvSpPr>
        <p:spPr>
          <a:xfrm>
            <a:off x="6236208" y="3755000"/>
            <a:ext cx="2523744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</a:rPr>
              <a:t>· Dedicated support team</a:t>
            </a:r>
            <a:endParaRPr lang="en-US" sz="900" dirty="0"/>
          </a:p>
        </p:txBody>
      </p:sp>
      <p:sp>
        <p:nvSpPr>
          <p:cNvPr id="42" name="Feat3"/>
          <p:cNvSpPr/>
          <p:nvPr/>
        </p:nvSpPr>
        <p:spPr>
          <a:xfrm>
            <a:off x="6236208" y="4020000"/>
            <a:ext cx="2523744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</a:rPr>
              <a:t>· Custom analytics &amp; integrations</a:t>
            </a:r>
            <a:endParaRPr lang="en-US" sz="900" dirty="0"/>
          </a:p>
        </p:txBody>
      </p:sp>
      <p:sp>
        <p:nvSpPr>
          <p:cNvPr id="43" name="Feat4"/>
          <p:cNvSpPr/>
          <p:nvPr/>
        </p:nvSpPr>
        <p:spPr>
          <a:xfrm>
            <a:off x="6236208" y="4285000"/>
            <a:ext cx="2523744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</a:rPr>
              <a:t>· Multi-region + contractual SLA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raud Detection Workflow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Header bar -->
      <p:sp>
        <p:nvSpPr>
          <p:cNvPr id="2" name="HeaderBar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!-- Header left: section label -->
      <p:sp>
        <p:nvSpPr>
          <p:cNvPr id="3" name="HdrLeft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</a:rPr>
              <a:t>Provided by:  Terian Services</a:t>
            </a:r>
            <a:endParaRPr lang="en-US" sz="1000" dirty="0"/>
          </a:p>
        </p:txBody>
      </p:sp>
      <!-- Header right: page label -->
      <p:sp>
        <p:nvSpPr>
          <p:cNvPr id="4" name="HdrRight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</a:rPr>
              <a:t>Platform Capabilities</a:t>
            </a:r>
            <a:endParaRPr lang="en-US" sz="900" dirty="0"/>
          </a:p>
        </p:txBody>
      </p:sp>
      <!-- Slide title -->
      <p:sp>
        <p:nvSpPr>
          <p:cNvPr id="5" name="SlideTitle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4"/>
                </a:solidFill>
                <a:latin typeface="Georgia" pitchFamily="34" charset="0"/>
              </a:rPr>
              <a:t>Fraud Detection — Review Workflow</a:t>
            </a:r>
            <a:endParaRPr lang="en-US" sz="2400" dirty="0"/>
          </a:p>
        </p:txBody>
      </p:sp>
      <!-- Cyan accent line -->
      <p:sp>
        <p:nvSpPr>
          <p:cNvPr id="6" name="CyanLine"/>
          <p:cNvSpPr/>
          <p:nvPr/>
        </p:nvSpPr>
        <p:spPr>
          <a:xfrm>
            <a:off x="457200" y="1042480"/>
            <a:ext cx="2286000" cy="36576"/>
          </a:xfrm>
          <a:prstGeom prst="rect">
            <a:avLst/>
          </a:prstGeom>
          <a:solidFill>
            <a:srgbClr val="00B4D8"/>
          </a:solidFill>
          <a:ln/>
        </p:spPr>
      </p:sp>
      <!-- Workflow diagram image -->
      <p:pic>
        <p:nvPicPr>
          <p:cNvPr id="7" name="Workflow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830" y="1240000"/>
            <a:ext cx="5094340" cy="36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2354</Words>
  <Application>Microsoft Office PowerPoint</Application>
  <PresentationFormat>On-screen Show (16:9)</PresentationFormat>
  <Paragraphs>384</Paragraphs>
  <Slides>24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Arial Black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Award Nomination Platform — Bo Industries</dc:title>
  <dc:subject>PptxGenJS Presentation</dc:subject>
  <dc:creator>Terian Services</dc:creator>
  <cp:lastModifiedBy>David Terian</cp:lastModifiedBy>
  <cp:revision>3</cp:revision>
  <dcterms:created xsi:type="dcterms:W3CDTF">2026-03-24T16:58:21Z</dcterms:created>
  <dcterms:modified xsi:type="dcterms:W3CDTF">2026-05-27T21:26:35Z</dcterms:modified>
</cp:coreProperties>
</file>